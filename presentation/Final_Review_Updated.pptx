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bda0bf9-bd59-38be-d7dc-de28a70f5c70}">
          <p14:sldIdLst>
            <p14:sldId id="256"/>
            <p14:sldId id="257"/>
            <p14:sldId id="258"/>
            <p14:sldId id="259"/>
          </p14:sldIdLst>
        </p14:section>
        <p14:section name="Literature and data" id="{719837d9-d0b8-3130-545c-d4355d6bd1a3}">
          <p14:sldIdLst>
            <p14:sldId id="260"/>
            <p14:sldId id="261"/>
            <p14:sldId id="262"/>
          </p14:sldIdLst>
        </p14:section>
        <p14:section name="Method" id="{e2e0c0dc-ad54-d4a7-8b77-18ac5febe756}">
          <p14:sldIdLst>
            <p14:sldId id="263"/>
            <p14:sldId id="264"/>
            <p14:sldId id="265"/>
            <p14:sldId id="266"/>
            <p14:sldId id="267"/>
          </p14:sldIdLst>
        </p14:section>
        <p14:section name="Phase 1 results" id="{836b7c70-cf02-3499-8a4e-dd932fba202f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Phase 2" id="{2a69df8d-9267-c0ba-7a24-7bf4a01080eb}">
          <p14:sldIdLst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final-review deck. All results are taken from the project's current result files (after the September audit fix).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fixed May-October window would include inactive weeks in some years and miss active weeks in others, so the season is defined by the oscillation's own amplitude. Only target days are restricted; a lag-45 source for a 1 June target reads mid-April.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1-8 build, validate, freeze and use the causal graph; steps 9-11 detect drift and adapt the regional experts. Bold numbers are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Final Review – B.TECH PROJECT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Graph-MoE: A Topology-Aware Mixture-of-Experts Framework for Drift Adaptive Weather Forecasting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2880360"/>
            <a:ext cx="45720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Student Details: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1. Pranesh L - CB.AI.U4AID23133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2. Kathirvelan M - CB.AI.U4AID23118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3. Sasikumar P - CB.AI.U4AID23146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4. Jeiesh J S - CB.AI.U4AID23116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4892040"/>
            <a:ext cx="4572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Team Number: AB 13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Supervisor: Dr. Vinith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 statement and motivation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Weather and climate regimes shift over time (El Niño vs. normal years): a model trained once quietly goes stale as conditions change.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Retraining the entire model, from scratch or on a fixed schedule, is wasteful: a shift is usually confined to particular regions or relationships.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Most forecasters choose which regions to trust by correlation or geography, so they cannot tell "this region's physics changed" from "a coincidental correlation broke".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As systems grow from regional to global scale, the number of regions that can drift grows too, and full retraining becomes even more costly.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Our approach: </a:t>
            </a:r>
            <a:r>
              <a:rPr lang="en-US" sz="1800" dirty="0">
                <a:solidFill>
                  <a:schemeClr val="tx1"/>
                </a:solidFill>
              </a:rPr>
              <a:t>validate real causal drivers first, then adapt only the regions that actually drifted.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objectives</a:t>
            </a:r>
            <a:endParaRPr lang="en-US" sz="2800" dirty="0"/>
          </a:p>
        </p:txBody>
      </p:sp>
      <p:sp>
        <p:nvSpPr>
          <p:cNvPr id="3" name="number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758952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Causal graph: </a:t>
            </a:r>
            <a:r>
              <a:rPr lang="en-US" sz="1400" dirty="0">
                <a:solidFill>
                  <a:schemeClr val="tx1"/>
                </a:solidFill>
              </a:rPr>
              <a:t>discover which regions' past conditions carry information about another region's future OLR (PCMCI over 50 regions x 6 variables).</a:t>
            </a:r>
            <a:endParaRPr lang="en-US" sz="1400" dirty="0"/>
          </a:p>
        </p:txBody>
      </p:sp>
      <p:sp>
        <p:nvSpPr>
          <p:cNvPr id="6" name="number"/>
          <p:cNvSpPr/>
          <p:nvPr/>
        </p:nvSpPr>
        <p:spPr>
          <a:xfrm>
            <a:off x="457200" y="22677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21992"/>
            <a:ext cx="758952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Stress tests: </a:t>
            </a:r>
            <a:r>
              <a:rPr lang="en-US" sz="1400" dirty="0">
                <a:solidFill>
                  <a:schemeClr val="tx1"/>
                </a:solidFill>
              </a:rPr>
              <a:t>check every link against fake decoy variables, physical travel speeds, trimming to the strongest links, and redrawing the regions at double resolution.</a:t>
            </a:r>
            <a:endParaRPr lang="en-US" sz="1400" dirty="0"/>
          </a:p>
        </p:txBody>
      </p:sp>
      <p:sp>
        <p:nvSpPr>
          <p:cNvPr id="9" name="number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09544"/>
            <a:ext cx="758952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Graph as guidance: </a:t>
            </a:r>
            <a:r>
              <a:rPr lang="en-US" sz="1400" dirty="0">
                <a:solidFill>
                  <a:schemeClr val="tx1"/>
                </a:solidFill>
              </a:rPr>
              <a:t>feed the validated graph to the causal splitter three ways: narrow its candidates, nudge its scores, or penalise selections outside the graph.</a:t>
            </a:r>
            <a:endParaRPr lang="en-US" sz="1400" dirty="0"/>
          </a:p>
        </p:txBody>
      </p:sp>
      <p:sp>
        <p:nvSpPr>
          <p:cNvPr id="12" name="number"/>
          <p:cNvSpPr/>
          <p:nvPr/>
        </p:nvSpPr>
        <p:spPr>
          <a:xfrm>
            <a:off x="457200" y="42428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197096"/>
            <a:ext cx="758952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Unseen years: </a:t>
            </a:r>
            <a:r>
              <a:rPr lang="en-US" sz="1400" dirty="0">
                <a:solidFill>
                  <a:schemeClr val="tx1"/>
                </a:solidFill>
              </a:rPr>
              <a:t>compare the graph-guided splitter with an unguided one on held-out 2013–2022.</a:t>
            </a:r>
            <a:endParaRPr lang="en-US" sz="1400" dirty="0"/>
          </a:p>
        </p:txBody>
      </p:sp>
      <p:sp>
        <p:nvSpPr>
          <p:cNvPr id="15" name="number"/>
          <p:cNvSpPr/>
          <p:nvPr/>
        </p:nvSpPr>
        <p:spPr>
          <a:xfrm>
            <a:off x="457200" y="52303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184648"/>
            <a:ext cx="758952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Drift-adaptive experts: </a:t>
            </a:r>
            <a:r>
              <a:rPr lang="en-US" sz="1400" dirty="0">
                <a:solidFill>
                  <a:schemeClr val="tx1"/>
                </a:solidFill>
              </a:rPr>
              <a:t>detect drift per region, then retrain, spawn, or reactivate only that region's expert.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2 objectives</a:t>
            </a:r>
            <a:endParaRPr lang="en-US" sz="2800" dirty="0"/>
          </a:p>
        </p:txBody>
      </p:sp>
      <p:sp>
        <p:nvSpPr>
          <p:cNvPr id="3" name="number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75895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India forecasting backbone: </a:t>
            </a:r>
            <a:r>
              <a:rPr lang="en-US" sz="1400" dirty="0">
                <a:solidFill>
                  <a:schemeClr val="tx1"/>
                </a:solidFill>
              </a:rPr>
              <a:t>shared graph neural network on hourly surface data, with region-specific experts conditioned on Phase 1 validated causal drivers.</a:t>
            </a:r>
            <a:endParaRPr lang="en-US" sz="1400" dirty="0"/>
          </a:p>
        </p:txBody>
      </p:sp>
      <p:sp>
        <p:nvSpPr>
          <p:cNvPr id="6" name="number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68880"/>
            <a:ext cx="75895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72-hour forecasts: </a:t>
            </a:r>
            <a:r>
              <a:rPr lang="en-US" sz="1400" dirty="0">
                <a:solidFill>
                  <a:schemeClr val="tx1"/>
                </a:solidFill>
              </a:rPr>
              <a:t>autoregressive roll-out to 72 h, with a station-level component checked against real observations.</a:t>
            </a:r>
            <a:endParaRPr lang="en-US" sz="1400" dirty="0"/>
          </a:p>
        </p:txBody>
      </p:sp>
      <p:sp>
        <p:nvSpPr>
          <p:cNvPr id="9" name="number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703320"/>
            <a:ext cx="75895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Benchmark: </a:t>
            </a:r>
            <a:r>
              <a:rPr lang="en-US" sz="1400" dirty="0">
                <a:solidFill>
                  <a:schemeClr val="tx1"/>
                </a:solidFill>
              </a:rPr>
              <a:t>compare with GraphCast and WeatherNext on the same data, horizons and evaluation protocol.</a:t>
            </a:r>
            <a:endParaRPr lang="en-US" sz="1400" dirty="0"/>
          </a:p>
        </p:txBody>
      </p:sp>
      <p:sp>
        <p:nvSpPr>
          <p:cNvPr id="12" name="number"/>
          <p:cNvSpPr/>
          <p:nvPr/>
        </p:nvSpPr>
        <p:spPr>
          <a:xfrm>
            <a:off x="457200" y="4983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937760"/>
            <a:ext cx="75895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Global scale: </a:t>
            </a:r>
            <a:r>
              <a:rPr lang="en-US" sz="1400" dirty="0">
                <a:solidFill>
                  <a:schemeClr val="tx1"/>
                </a:solidFill>
              </a:rPr>
              <a:t>extend the validated regional architecture to larger meshes, more regimes and a larger expert pool.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03 | Consolidated Literature Review &amp; Research Gap</a:t>
            </a:r>
            <a:endParaRPr lang="en-US" sz="2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10896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 /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al., "Discovering invariant rationales for graph neural networks", ICLR 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a graph into causal rationale and non-causal part; swaps the non-causal part across instances; stable prediction = invariant causal information.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graph classification; no spatiotemporal forecasting; no dynamic expert adaptation.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Ghaffari et al., "Graph-conditioned mixture of GNN experts for traffic forecasting", arXiv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 router blends frozen, pre-trained experts per node using topology and recent input.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Experts frozen forever: no retraining, no spawning, no answer to drift.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et al., "Geometric mixture-of-experts with curvature-guided adaptive routing", arXiv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 each node to expert sub-networks by Ollivier–Ricci curvature across Riemannian spaces.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 by topology/curvature alone: no notion of drift or causality.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al., "GraphMETRO: mitigating complex graph distribution shifts via mixture of aligned experts", NeurIPS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expert is invariant to one hand-constructed shift type; blended by a learned gate.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components hand-constructed and static; no shift structure learned from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RESEARCH GAP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Existing studies address causal rationale discovery, graph distribution shifts, dynamic expert learning and graph-based weather forecasting separately. None combines causal structure discovery with drift-triggered expert adaptation for spatiotemporal weather forecasting.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06 | Dataset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Source: </a:t>
            </a:r>
            <a:r>
              <a:rPr lang="en-US" sz="1600" dirty="0">
                <a:solidFill>
                  <a:schemeClr val="tx1"/>
                </a:solidFill>
              </a:rPr>
              <a:t>BSISO monitoring data; the Boreal Summer Intraseasonal Oscillation is a slow-moving pattern of tropical convection related to the MJO.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Grid: </a:t>
            </a:r>
            <a:r>
              <a:rPr lang="en-US" sz="1600" dirty="0">
                <a:solidFill>
                  <a:schemeClr val="tx1"/>
                </a:solidFill>
              </a:rPr>
              <a:t>2.5° tropical belt, 30°S–30°N, all longitudes (25 x 144 = 3,600 cells, about 275 km each).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Time: </a:t>
            </a:r>
            <a:r>
              <a:rPr lang="en-US" sz="1600" dirty="0">
                <a:solidFill>
                  <a:schemeClr val="tx1"/>
                </a:solidFill>
              </a:rPr>
              <a:t>daily, 1979-01-01 to 2022-12-31; 16,071 days, none missing.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Fields: </a:t>
            </a:r>
            <a:r>
              <a:rPr lang="en-US" sz="1600" dirty="0">
                <a:solidFill>
                  <a:schemeClr val="tx1"/>
                </a:solidFill>
              </a:rPr>
              <a:t>SST, h850, u200, PW, u850, OLR, as anomalies normalised per grid cell.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Target: </a:t>
            </a:r>
            <a:r>
              <a:rPr lang="en-US" sz="1600" dirty="0">
                <a:solidFill>
                  <a:schemeClr val="tx1"/>
                </a:solidFill>
              </a:rPr>
              <a:t>OLR, a proxy for convection (low OLR = active rain) and the least persistent field.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Regions: </a:t>
            </a:r>
            <a:r>
              <a:rPr lang="en-US" sz="1600" dirty="0">
                <a:solidFill>
                  <a:schemeClr val="tx1"/>
                </a:solidFill>
              </a:rPr>
              <a:t>3,600 cells -&gt; 50 regions by k-means on OLR -&gt; 50 x 6 = 300 nodes; the adjacency mesh defines candidate pools.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Split: </a:t>
            </a:r>
            <a:r>
              <a:rPr lang="en-US" sz="1600" dirty="0">
                <a:solidFill>
                  <a:schemeClr val="tx1"/>
                </a:solidFill>
              </a:rPr>
              <a:t>1979–2012 for graph discovery and training; 2013–2022 held out for testing only.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Season: </a:t>
            </a:r>
            <a:r>
              <a:rPr lang="en-US" sz="1600" dirty="0">
                <a:solidFill>
                  <a:schemeClr val="tx1"/>
                </a:solidFill>
              </a:rPr>
              <a:t>Phase 1 scores BSISO-active target days only (208 days/yr on average); source history is kept in full.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06 | Dataset: active BSISO season</a:t>
            </a:r>
            <a:endParaRPr lang="en-US" sz="2800" dirty="0"/>
          </a:p>
        </p:txBody>
      </p:sp>
      <p:pic>
        <p:nvPicPr>
          <p:cNvPr id="3" name="figure" descr="Active BSISO season per year, 1979-20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8176"/>
            <a:ext cx="5486400" cy="35844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280160"/>
            <a:ext cx="256032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BSISO index rebuilt from our own OLR + u850 (combined EOF, May–Oct, 1979–2012 only).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EOF variance 11.2% / 7.7%</a:t>
            </a:r>
            <a:r>
              <a:rPr lang="en-US" sz="1300" dirty="0">
                <a:solidFill>
                  <a:schemeClr val="tx1"/>
                </a:solidFill>
              </a:rPr>
              <a:t> vs. about 10% / 7% published by Lee et al. (2013).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Season = 31-day mean amplitude &gt; 1 for 20+ days, padded by 21 days.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208 days/yr</a:t>
            </a:r>
            <a:r>
              <a:rPr lang="en-US" sz="1300" dirty="0">
                <a:solidFill>
                  <a:schemeClr val="tx1"/>
                </a:solidFill>
              </a:rPr>
              <a:t> on average (82–286); onset April–July.</a:t>
            </a:r>
            <a:endParaRPr lang="en-US" sz="1300" dirty="0"/>
          </a:p>
        </p:txBody>
      </p:sp>
      <p:sp>
        <p:nvSpPr>
          <p:cNvPr id="5" name="caption"/>
          <p:cNvSpPr txBox="1"/>
          <p:nvPr/>
        </p:nvSpPr>
        <p:spPr>
          <a:xfrm>
            <a:off x="457200" y="553212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</a:rPr>
              <a:t>Active season per year: blue = discovery/training years, orange = held-out test years.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architecture</a:t>
            </a:r>
            <a:endParaRPr lang="en-US" sz="2800" dirty="0"/>
          </a:p>
        </p:txBody>
      </p:sp>
      <p:pic>
        <p:nvPicPr>
          <p:cNvPr id="3" name="figure" descr="Phase 1 workflow: build, validate, freeze and use the causal graph; detect drift and adapt exp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961" y="1051560"/>
            <a:ext cx="7964079" cy="5257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PCMCI works?</a:t>
            </a:r>
            <a:endParaRPr lang="en-US" sz="2800" dirty="0"/>
          </a:p>
        </p:txBody>
      </p:sp>
      <p:sp>
        <p:nvSpPr>
          <p:cNvPr id="3" name="step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7589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Build candidates: </a:t>
            </a:r>
            <a:r>
              <a:rPr lang="en-US" sz="1400" dirty="0">
                <a:solidFill>
                  <a:schemeClr val="tx1"/>
                </a:solidFill>
              </a:rPr>
              <a:t>For each OLR target, every node (region x field) at every lag 1–60 days: 18,000 candidates per target.</a:t>
            </a:r>
            <a:endParaRPr lang="en-US" sz="1400" dirty="0"/>
          </a:p>
        </p:txBody>
      </p:sp>
      <p:sp>
        <p:nvSpPr>
          <p:cNvPr id="6" name="step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86000"/>
            <a:ext cx="7589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PC1 screening: </a:t>
            </a:r>
            <a:r>
              <a:rPr lang="en-US" sz="1400" dirty="0">
                <a:solidFill>
                  <a:schemeClr val="tx1"/>
                </a:solidFill>
              </a:rPr>
              <a:t>Test each candidate against the target while controlling for the strongest candidates found so far; weak candidates drop out early.</a:t>
            </a:r>
            <a:endParaRPr lang="en-US" sz="1400" dirty="0"/>
          </a:p>
        </p:txBody>
      </p:sp>
      <p:sp>
        <p:nvSpPr>
          <p:cNvPr id="9" name="step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383280"/>
            <a:ext cx="7589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MCI final test: </a:t>
            </a:r>
            <a:r>
              <a:rPr lang="en-US" sz="1400" dirty="0">
                <a:solidFill>
                  <a:schemeClr val="tx1"/>
                </a:solidFill>
              </a:rPr>
              <a:t>Retest each survivor while controlling for the target's other parents AND the source's own past; a link survives only if it still adds information.</a:t>
            </a:r>
            <a:endParaRPr lang="en-US" sz="1400" dirty="0"/>
          </a:p>
        </p:txBody>
      </p:sp>
      <p:sp>
        <p:nvSpPr>
          <p:cNvPr id="12" name="step"/>
          <p:cNvSpPr/>
          <p:nvPr/>
        </p:nvSpPr>
        <p:spPr>
          <a:xfrm>
            <a:off x="457200" y="4526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80560"/>
            <a:ext cx="7589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FDR correction: </a:t>
            </a:r>
            <a:r>
              <a:rPr lang="en-US" sz="1400" dirty="0">
                <a:solidFill>
                  <a:schemeClr val="tx1"/>
                </a:solidFill>
              </a:rPr>
              <a:t>Benjamini–Hochberg across all 18,000 tests per target keeps only reliable links (q ≤ 0.05).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62356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tx2"/>
                </a:solidFill>
              </a:rPr>
              <a:t>Lag 0 is excluded, so direction comes from time order. Our vectorised implementation matches the Tigramite reference (identical PC1 parent sets, MCI values within 0.002) and runs 50 targets x 18,000 candidates in about 23 minutes.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validation: four independent checks</a:t>
            </a:r>
            <a:endParaRPr lang="en-US" sz="2800" dirty="0"/>
          </a:p>
        </p:txBody>
      </p:sp>
      <p:pic>
        <p:nvPicPr>
          <p:cNvPr id="3" name="figure" descr="Validation checks B1-B4 and the three ways to use the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5220"/>
            <a:ext cx="8229600" cy="304164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343400"/>
            <a:ext cx="8229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B1 Decoys: </a:t>
            </a:r>
            <a:r>
              <a:rPr lang="en-US" sz="1600" dirty="0">
                <a:solidFill>
                  <a:schemeClr val="tx1"/>
                </a:solidFill>
              </a:rPr>
              <a:t>phase-randomised copies keep each series' memory but no real link; does PCMCI pick them?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B2 Lag mask: </a:t>
            </a:r>
            <a:r>
              <a:rPr lang="en-US" sz="1600" dirty="0">
                <a:solidFill>
                  <a:schemeClr val="tx1"/>
                </a:solidFill>
              </a:rPr>
              <a:t>implied speed = distance / lag must be physically possible for the source field.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B3 Top-k: </a:t>
            </a:r>
            <a:r>
              <a:rPr lang="en-US" sz="1600" dirty="0">
                <a:solidFill>
                  <a:schemeClr val="tx1"/>
                </a:solidFill>
              </a:rPr>
              <a:t>keep the k strongest outside links per target, k chosen on 2005–2012.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B4 Resolution: </a:t>
            </a:r>
            <a:r>
              <a:rPr lang="en-US" sz="1600" dirty="0">
                <a:solidFill>
                  <a:schemeClr val="tx1"/>
                </a:solidFill>
              </a:rPr>
              <a:t>do links reappear when every region is split in two?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the drift detectors and expert lifecycle work</a:t>
            </a:r>
            <a:endParaRPr lang="en-US" sz="2800" dirty="0"/>
          </a:p>
        </p:txBody>
      </p:sp>
      <p:pic>
        <p:nvPicPr>
          <p:cNvPr id="3" name="figure" descr="Dual-channel drift detection and expert lifecy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33" y="1051560"/>
            <a:ext cx="7970534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166360"/>
            <a:ext cx="8229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Channel 1, ADWIN: </a:t>
            </a:r>
            <a:r>
              <a:rPr lang="en-US" sz="1300" dirty="0">
                <a:solidFill>
                  <a:schemeClr val="tx1"/>
                </a:solidFill>
              </a:rPr>
              <a:t>raises an alarm when recent forecast errors differ significantly from older ones.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Channel 2, STARS: </a:t>
            </a:r>
            <a:r>
              <a:rPr lang="en-US" sz="1300" dirty="0">
                <a:solidFill>
                  <a:schemeClr val="tx1"/>
                </a:solidFill>
              </a:rPr>
              <a:t>tests the causal-signature distance for a confirmed regime shift; it can react before errors rise.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Lifecycle: </a:t>
            </a:r>
            <a:r>
              <a:rPr lang="en-US" sz="1300" dirty="0">
                <a:solidFill>
                  <a:schemeClr val="tx1"/>
                </a:solidFill>
              </a:rPr>
              <a:t>retrain, or archive and reactivate a matching expert (cosine similarity ≥ 0.9), else spawn a new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Model, configuration and parameters</a:t>
            </a:r>
            <a:endParaRPr lang="en-US" sz="28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 (splitter + expert)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/ training 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4,000 contiguous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Optimiser, learning rate, batch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Adam, 1e-3,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width / generator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10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Interventions; variance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swaps; 0 -&gt; 1 after 30% warm-up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graph (PCMCI)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(50 regions x 6 fields)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 per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tested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1–60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alpha / FDR alpha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/ 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7,153 season days, 1979–2012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069080"/>
            <a:ext cx="82296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50 independent splitter + expert pairs: </a:t>
            </a:r>
            <a:r>
              <a:rPr lang="en-US" sz="1400" dirty="0">
                <a:solidFill>
                  <a:schemeClr val="tx1"/>
                </a:solidFill>
              </a:rPr>
              <a:t>one per region, trained from scratch, no weight sharing.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Splitter (DIR-style): </a:t>
            </a:r>
            <a:r>
              <a:rPr lang="en-US" sz="1400" dirty="0">
                <a:solidFill>
                  <a:schemeClr val="tx1"/>
                </a:solidFill>
              </a:rPr>
              <a:t>rationale generator scores each candidate source from 10-day windows; top fraction = causal set; non-causal sources swapped with other days; loss = mean + variance of risk across swaps.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Expert: </a:t>
            </a:r>
            <a:r>
              <a:rPr lang="en-US" sz="1400" dirty="0">
                <a:solidFill>
                  <a:schemeClr val="tx1"/>
                </a:solidFill>
              </a:rPr>
              <a:t>weighted mean of the selected sources' features (weights from the splitter) -&gt; MLP -&gt; OLR forecast.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the discovered causal graph</a:t>
            </a:r>
            <a:endParaRPr lang="en-US" sz="2800" dirty="0"/>
          </a:p>
        </p:txBody>
      </p:sp>
      <p:sp>
        <p:nvSpPr>
          <p:cNvPr id="3" name="stat card"/>
          <p:cNvSpPr/>
          <p:nvPr/>
        </p:nvSpPr>
        <p:spPr>
          <a:xfrm>
            <a:off x="45720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07008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536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significant links (FDR 0.05)</a:t>
            </a:r>
            <a:endParaRPr lang="en-US" sz="1200" dirty="0"/>
          </a:p>
        </p:txBody>
      </p:sp>
      <p:sp>
        <p:nvSpPr>
          <p:cNvPr id="6" name="stat card"/>
          <p:cNvSpPr/>
          <p:nvPr/>
        </p:nvSpPr>
        <p:spPr>
          <a:xfrm>
            <a:off x="256032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07008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2"/>
                </a:solidFill>
              </a:rPr>
              <a:t>160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links from other regions</a:t>
            </a:r>
            <a:endParaRPr lang="en-US" sz="1200" dirty="0"/>
          </a:p>
        </p:txBody>
      </p:sp>
      <p:sp>
        <p:nvSpPr>
          <p:cNvPr id="9" name="stat card"/>
          <p:cNvSpPr/>
          <p:nvPr/>
        </p:nvSpPr>
        <p:spPr>
          <a:xfrm>
            <a:off x="466344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07008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3"/>
                </a:solidFill>
              </a:rPr>
              <a:t>1 day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median lag of outside links</a:t>
            </a:r>
            <a:endParaRPr lang="en-US" sz="1200" dirty="0"/>
          </a:p>
        </p:txBody>
      </p:sp>
      <p:sp>
        <p:nvSpPr>
          <p:cNvPr id="12" name="stat card"/>
          <p:cNvSpPr/>
          <p:nvPr/>
        </p:nvSpPr>
        <p:spPr>
          <a:xfrm>
            <a:off x="676656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07008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4"/>
                </a:solidFill>
              </a:rPr>
              <a:t>2.06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source regions per target</a:t>
            </a:r>
            <a:endParaRPr lang="en-US" sz="1200" dirty="0"/>
          </a:p>
        </p:txBody>
      </p:sp>
      <p:pic>
        <p:nvPicPr>
          <p:cNvPr id="15" name="figure" descr="Map of validated outside drivers coloured by source f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40330"/>
            <a:ext cx="8229600" cy="18516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57200" y="4663440"/>
            <a:ext cx="82296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Outside drivers by field: OLR 72, u850 37, u200 22, h850 18, PW 11, SST 0; mostly neighbouring regions.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few long links (wind and height) cross thousands of km in 1–2 days, at equatorial-wave speeds.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Region 22: </a:t>
            </a:r>
            <a:r>
              <a:rPr lang="en-US" sz="1300" dirty="0">
                <a:solidFill>
                  <a:schemeClr val="tx1"/>
                </a:solidFill>
              </a:rPr>
              <a:t>the graph picks regions 27 and 6; the unguided splitter independently picks 6, 12 and 27. Two different methods agree.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B1 decoy test</a:t>
            </a:r>
            <a:endParaRPr lang="en-US" sz="2800" dirty="0"/>
          </a:p>
        </p:txBody>
      </p:sp>
      <p:pic>
        <p:nvPicPr>
          <p:cNvPr id="3" name="figure" descr="0 of 250 decoys sel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3538"/>
            <a:ext cx="3840480" cy="3550844"/>
          </a:xfrm>
          <a:prstGeom prst="rect">
            <a:avLst/>
          </a:prstGeom>
        </p:spPr>
      </p:pic>
      <p:pic>
        <p:nvPicPr>
          <p:cNvPr id="4" name="figure" descr="Links after PCMCI, B1 and B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75333"/>
            <a:ext cx="4206240" cy="2867254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5120640"/>
            <a:ext cx="3840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</a:rPr>
              <a:t>0 of 250 fake variables fooled the causal discovery</a:t>
            </a:r>
            <a:endParaRPr lang="en-US" sz="1100" dirty="0"/>
          </a:p>
        </p:txBody>
      </p:sp>
      <p:sp>
        <p:nvSpPr>
          <p:cNvPr id="6" name="caption"/>
          <p:cNvSpPr txBox="1"/>
          <p:nvPr/>
        </p:nvSpPr>
        <p:spPr>
          <a:xfrm>
            <a:off x="4480560" y="5120640"/>
            <a:ext cx="4206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</a:rPr>
              <a:t>Own-region (blue) and outside (orange) links after each check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553212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Decoys share the real series' memory and 30–60-day rhythm but have no real link. None was selected (gate: below 30%), and the real graph barely changed (517 vs. 536 links), so PCMCI is not fooled by autocorrelation.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B2 physical lag mask</a:t>
            </a:r>
            <a:endParaRPr lang="en-US" sz="2800" dirty="0"/>
          </a:p>
        </p:txBody>
      </p:sp>
      <p:pic>
        <p:nvPicPr>
          <p:cNvPr id="3" name="figure" descr="Implied speed vs distance by f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16" y="1051560"/>
            <a:ext cx="7379368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349240"/>
            <a:ext cx="8229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Only 3 of 536 links </a:t>
            </a:r>
            <a:r>
              <a:rPr lang="en-US" sz="1300" dirty="0">
                <a:solidFill>
                  <a:schemeClr val="tx1"/>
                </a:solidFill>
              </a:rPr>
              <a:t>need an impossible speed (64, 33 and 26 m/s at lag 1); they are dropped from the prior.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Limits: SST 1 m/s; OLR and PW 20 m/s (coupled Kelvin waves); winds and height 50 m/s.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28 kept outside links span 500–5,500 km at up to 46 m/s, all carried by wind and height fields.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B3 top-k and B4 resolution</a:t>
            </a:r>
            <a:endParaRPr lang="en-US" sz="2800" dirty="0"/>
          </a:p>
        </p:txBody>
      </p:sp>
      <p:pic>
        <p:nvPicPr>
          <p:cNvPr id="3" name="figure" descr="Persistence per target at 100 regions and by f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0398"/>
            <a:ext cx="8229600" cy="2848404"/>
          </a:xfrm>
          <a:prstGeom prst="rect">
            <a:avLst/>
          </a:prstGeom>
        </p:spPr>
      </p:pic>
      <p:sp>
        <p:nvSpPr>
          <p:cNvPr id="4" name="stat card"/>
          <p:cNvSpPr/>
          <p:nvPr/>
        </p:nvSpPr>
        <p:spPr>
          <a:xfrm>
            <a:off x="457200" y="411480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224528"/>
            <a:ext cx="2560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0.62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mean persistence at 100 regions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3291840" y="411480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4224528"/>
            <a:ext cx="2560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3"/>
                </a:solidFill>
              </a:rPr>
              <a:t>33 / 48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targets with persistence ≥ 0.5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6126480" y="411480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4224528"/>
            <a:ext cx="2560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2"/>
                </a:solidFill>
              </a:rPr>
              <a:t>k = 10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B3 keeps all 157 outside links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5778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OLR links persist best (56/70); moisture and low-level height links, being more local, least. PCMCI + FDR is already sparse, so B3 keeps every outside link.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causal graph as the splitter's guide</a:t>
            </a:r>
            <a:endParaRPr lang="en-US" sz="28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1737360"/>
                <a:gridCol w="15544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Informative splitters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 persistence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skill vs pers.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R² vs clim.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PCMCI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PCMCI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37560"/>
            <a:ext cx="82296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Full 50-region pool: </a:t>
            </a:r>
            <a:r>
              <a:rPr lang="en-US" sz="1400" dirty="0">
                <a:solidFill>
                  <a:schemeClr val="tx1"/>
                </a:solidFill>
              </a:rPr>
              <a:t>without guidance the splitter's scores are uninformative everywhere; with the graph (restrict mode) 24 regions at 7 days and 36 at 1 day become informative.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1-day skill improves in 32 of 50 regions </a:t>
            </a:r>
            <a:r>
              <a:rPr lang="en-US" sz="1400" dirty="0">
                <a:solidFill>
                  <a:schemeClr val="tx1"/>
                </a:solidFill>
              </a:rPr>
              <a:t>(median +0.40 skill vs persistence, about 17% lower MSE; Wilcoxon p = 0.049).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7-day skill unchanged: </a:t>
            </a:r>
            <a:r>
              <a:rPr lang="en-US" sz="1400" dirty="0">
                <a:solidFill>
                  <a:schemeClr val="tx1"/>
                </a:solidFill>
              </a:rPr>
              <a:t>the validated links act within 1–2 days, so they help short leads; week-ahead guidance needs a graph built with lags of 7+ days.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Held-out 2013–2022 season days (1,989); skill = 1 − MSE / MSE(reference).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1-day gain, region by region</a:t>
            </a:r>
            <a:endParaRPr lang="en-US" sz="2800" dirty="0"/>
          </a:p>
        </p:txBody>
      </p:sp>
      <p:pic>
        <p:nvPicPr>
          <p:cNvPr id="3" name="figure" descr="Per-region 1-day skill with vs without the PCMCI pri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8123"/>
            <a:ext cx="8229600" cy="36987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074920"/>
            <a:ext cx="82296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dot is a region; dots above the diagonal improve with the causal prior.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Region 22: </a:t>
            </a:r>
            <a:r>
              <a:rPr lang="en-US" sz="1300" dirty="0">
                <a:solidFill>
                  <a:schemeClr val="tx1"/>
                </a:solidFill>
              </a:rPr>
              <a:t>skill vs persistence -0.60 -&gt; -0.05.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Regions with 2+ causal drivers improve on average; regions with a single driver are the hardest case (the splitter must choose between own history and one driver).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forecast accuracy</a:t>
            </a:r>
            <a:endParaRPr lang="en-US" sz="2800" dirty="0"/>
          </a:p>
        </p:txBody>
      </p:sp>
      <p:pic>
        <p:nvPicPr>
          <p:cNvPr id="3" name="figure" descr="Per-region MSE and RMSE of the 7-day foreca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8042"/>
            <a:ext cx="4206240" cy="2350237"/>
          </a:xfrm>
          <a:prstGeom prst="rect">
            <a:avLst/>
          </a:prstGeom>
        </p:spPr>
      </p:pic>
      <p:pic>
        <p:nvPicPr>
          <p:cNvPr id="4" name="figure" descr="Region 22 one-day forecast vs observed OL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11255"/>
            <a:ext cx="3931920" cy="122381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37947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</a:rPr>
              <a:t>7-day forecast error per region (mean MSE 0.317, RMSE 0.559 std)</a:t>
            </a:r>
            <a:endParaRPr lang="en-US" sz="1100" dirty="0"/>
          </a:p>
        </p:txBody>
      </p:sp>
      <p:sp>
        <p:nvSpPr>
          <p:cNvPr id="6" name="caption"/>
          <p:cNvSpPr txBox="1"/>
          <p:nvPr/>
        </p:nvSpPr>
        <p:spPr>
          <a:xfrm>
            <a:off x="475488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</a:rPr>
              <a:t>Region 22: 1-day forecast vs observed OLR (illustrative 1979–80 window)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389120"/>
            <a:ext cx="822960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Beats persistence in all 50 regions at 7 days </a:t>
            </a:r>
            <a:r>
              <a:rPr lang="en-US" sz="1300" dirty="0">
                <a:solidFill>
                  <a:schemeClr val="tx1"/>
                </a:solidFill>
              </a:rPr>
              <a:t>in every candidate pool (mean skill about +0.40, i.e. about 40% lower error than "no change").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expert tracks OLR swings one day ahead, including sharp convective transitions.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 7 days OLR keeps little memory, so climatology becomes the harder reference (mean R² vs climatology about -0.015).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what makes source selection work</a:t>
            </a:r>
            <a:endParaRPr lang="en-US" sz="2800" dirty="0"/>
          </a:p>
        </p:txBody>
      </p:sp>
      <p:pic>
        <p:nvPicPr>
          <p:cNvPr id="3" name="figure" descr="Informative splitters after 2 vs 5 epoch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85" y="1051560"/>
            <a:ext cx="3268870" cy="3383280"/>
          </a:xfrm>
          <a:prstGeom prst="rect">
            <a:avLst/>
          </a:prstGeom>
        </p:spPr>
      </p:pic>
      <p:pic>
        <p:nvPicPr>
          <p:cNvPr id="4" name="figure" descr="Skill flat across pools, discrimination collapses as the pool grow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732423"/>
            <a:ext cx="4754880" cy="2021553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</a:rPr>
              <a:t>Training budget: 5/50 -&gt; 27/50 informative</a:t>
            </a:r>
            <a:endParaRPr lang="en-US" sz="1100" dirty="0"/>
          </a:p>
        </p:txBody>
      </p:sp>
      <p:sp>
        <p:nvSpPr>
          <p:cNvPr id="6" name="caption"/>
          <p:cNvSpPr txBox="1"/>
          <p:nvPr/>
        </p:nvSpPr>
        <p:spPr>
          <a:xfrm>
            <a:off x="393192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</a:rPr>
              <a:t>Pool size: accuracy flat, discrimination falls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92040"/>
            <a:ext cx="82296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Training: </a:t>
            </a:r>
            <a:r>
              <a:rPr lang="en-US" sz="1300" dirty="0">
                <a:solidFill>
                  <a:schemeClr val="tx1"/>
                </a:solidFill>
              </a:rPr>
              <a:t>5 epochs instead of 2 raises informative splitters from 5 to 27 of 50 at equal accuracy.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Pool size: </a:t>
            </a:r>
            <a:r>
              <a:rPr lang="en-US" sz="1300" dirty="0">
                <a:solidFill>
                  <a:schemeClr val="tx1"/>
                </a:solidFill>
              </a:rPr>
              <a:t>informative splitters fall from 27 (neighbours) to 8 (2-hop) to 0 (all 50 regions). This is exactly the gap the validated graph closes (0 -&gt; 24 / 36).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drift detection</a:t>
            </a:r>
            <a:endParaRPr lang="en-US" sz="28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600200"/>
                <a:gridCol w="1463040"/>
                <a:gridCol w="1463040"/>
                <a:gridCol w="1417320"/>
                <a:gridCol w="1417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Ch.1 error (ADWIN)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Ch.2 causal (STARS)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Abrupt El Niño 97–98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 2013–22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966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966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Abrupt El Niño 97–98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 2013–22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1,158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1,195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Abrupt El Niño 97–98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 2013–22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 / 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/ 29 /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/ 0.34 / 1.04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 / 2.25 / 2.19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 / 2.59 / 3.23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/ 0.34 / 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The causal channel sees shifts first: </a:t>
            </a:r>
            <a:r>
              <a:rPr lang="en-US" sz="1500" dirty="0">
                <a:solidFill>
                  <a:schemeClr val="tx1"/>
                </a:solidFill>
              </a:rPr>
              <a:t>at regions 22 and 29 it detects the El Niño 2.4–4.5x sooner and the gradual drift 5.3–9.9x sooner than the error channel.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Fused OR catches every shift at every region; AND is slower but raises far fewer false alarms: a real, measured trade-off.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Latency = days from the start of the shift window to the first alarm in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expert lifecycle</a:t>
            </a:r>
            <a:endParaRPr lang="en-US" sz="2800" dirty="0"/>
          </a:p>
        </p:txBody>
      </p:sp>
      <p:pic>
        <p:nvPicPr>
          <p:cNvPr id="3" name="figure" descr="Lifecycle events 1979-2022 for regions 22, 12,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743" y="1051560"/>
            <a:ext cx="8142514" cy="3108960"/>
          </a:xfrm>
          <a:prstGeom prst="rect">
            <a:avLst/>
          </a:prstGeom>
        </p:spPr>
      </p:pic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Reactivation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Top-3 blend beats single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42/61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41/61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MSE: single -&gt; blend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0.368 -&gt; 0.352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0.422 -&gt; 0.402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0.384 -&gt; 0.376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Forgetting: single -&gt; blend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-0.010 -&gt; -0.013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0.183 -&gt; 0.170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0.092 -&gt; 0.086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104 of 171 regime changes </a:t>
            </a:r>
            <a:r>
              <a:rPr lang="en-US" sz="1300" dirty="0">
                <a:solidFill>
                  <a:schemeClr val="tx1"/>
                </a:solidFill>
              </a:rPr>
              <a:t>reactivated an archived expert instead of training from scratch: regimes recur and the archive pays off. Blending the 3 closest archived experts lowers both error and forgetting at every region.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1 results: warm start vs fresh spawn</a:t>
            </a:r>
            <a:endParaRPr lang="en-US" sz="2800" dirty="0"/>
          </a:p>
        </p:txBody>
      </p:sp>
      <p:pic>
        <p:nvPicPr>
          <p:cNvPr id="3" name="figure" descr="Average forgetting, warm start vs fresh spa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8694"/>
            <a:ext cx="5120640" cy="38234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1280160"/>
            <a:ext cx="2926080" cy="5029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Forgetting = increase in error on a regime seen before, after adapting (lower is better).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Warm start </a:t>
            </a:r>
            <a:r>
              <a:rPr lang="en-US" sz="1300" dirty="0">
                <a:solidFill>
                  <a:schemeClr val="tx1"/>
                </a:solidFill>
              </a:rPr>
              <a:t>(reuse archived weights) gives lower forecast error in 28/34 events at region 22 and 24/36 at region 29.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 forgetting it wins only at region 29, so the choice is region-dependent.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Default: </a:t>
            </a:r>
            <a:r>
              <a:rPr lang="en-US" sz="1300" dirty="0">
                <a:solidFill>
                  <a:schemeClr val="tx1"/>
                </a:solidFill>
              </a:rPr>
              <a:t>reactivate by pooled top-3 blend, the most consistent winner.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findings</a:t>
            </a:r>
            <a:endParaRPr lang="en-US" sz="2800" dirty="0"/>
          </a:p>
        </p:txBody>
      </p:sp>
      <p:sp>
        <p:nvSpPr>
          <p:cNvPr id="3" name="stat card"/>
          <p:cNvSpPr/>
          <p:nvPr/>
        </p:nvSpPr>
        <p:spPr>
          <a:xfrm>
            <a:off x="457200" y="123444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44168"/>
            <a:ext cx="2651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0 / 250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decoys selected</a:t>
            </a:r>
            <a:endParaRPr lang="en-US" sz="1200" dirty="0"/>
          </a:p>
        </p:txBody>
      </p:sp>
      <p:sp>
        <p:nvSpPr>
          <p:cNvPr id="6" name="stat card"/>
          <p:cNvSpPr/>
          <p:nvPr/>
        </p:nvSpPr>
        <p:spPr>
          <a:xfrm>
            <a:off x="3246120" y="123444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344168"/>
            <a:ext cx="2651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2"/>
                </a:solidFill>
              </a:rPr>
              <a:t>3 / 536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physically impossible links</a:t>
            </a:r>
            <a:endParaRPr lang="en-US" sz="1200" dirty="0"/>
          </a:p>
        </p:txBody>
      </p:sp>
      <p:sp>
        <p:nvSpPr>
          <p:cNvPr id="9" name="stat card"/>
          <p:cNvSpPr/>
          <p:nvPr/>
        </p:nvSpPr>
        <p:spPr>
          <a:xfrm>
            <a:off x="6035040" y="123444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344168"/>
            <a:ext cx="2651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3"/>
                </a:solidFill>
              </a:rPr>
              <a:t>62%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links persist at 2x resolution</a:t>
            </a:r>
            <a:endParaRPr lang="en-US" sz="1200" dirty="0"/>
          </a:p>
        </p:txBody>
      </p:sp>
      <p:sp>
        <p:nvSpPr>
          <p:cNvPr id="12" name="stat card"/>
          <p:cNvSpPr/>
          <p:nvPr/>
        </p:nvSpPr>
        <p:spPr>
          <a:xfrm>
            <a:off x="457200" y="283464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44368"/>
            <a:ext cx="2651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4"/>
                </a:solidFill>
              </a:rPr>
              <a:t>32 / 50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regions: better 1-day skill</a:t>
            </a:r>
            <a:endParaRPr lang="en-US" sz="1200" dirty="0"/>
          </a:p>
        </p:txBody>
      </p:sp>
      <p:sp>
        <p:nvSpPr>
          <p:cNvPr id="15" name="stat card"/>
          <p:cNvSpPr/>
          <p:nvPr/>
        </p:nvSpPr>
        <p:spPr>
          <a:xfrm>
            <a:off x="3246120" y="283464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2944368"/>
            <a:ext cx="2651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5"/>
                </a:solidFill>
              </a:rPr>
              <a:t>up to 9.9x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faster drift detection (causal channel)</a:t>
            </a:r>
            <a:endParaRPr lang="en-US" sz="1200" dirty="0"/>
          </a:p>
        </p:txBody>
      </p:sp>
      <p:sp>
        <p:nvSpPr>
          <p:cNvPr id="18" name="stat card"/>
          <p:cNvSpPr/>
          <p:nvPr/>
        </p:nvSpPr>
        <p:spPr>
          <a:xfrm>
            <a:off x="6035040" y="283464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944368"/>
            <a:ext cx="2651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accent6"/>
                </a:solidFill>
              </a:rPr>
              <a:t>104 / 171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regime changes reuse an archived expert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causal graph is trustworthy by every check that can reject it.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makes source selection meaningful and helps at the lead its links match (1 day).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Watching causal structure reveals drift early; recurring regimes make archived experts valuable.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Current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independently verified ground truth exists for real climate causal links: every claim rests on indirect checks (decoys, physical plausibility, resolution persistence).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validated graph is short-lag (mostly 1–2 days) while the main forecaster runs at 7 days: a time-scale mismatch that limits the prior there. A graph with lags of 7+ days is the fix.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Forecast comparisons use one training seed and are made against the unguided splitter; random- and correlation-prior controls of equal size are the next runs.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Drift and lifecycle results cover three regions so far.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2 plan</a:t>
            </a:r>
            <a:endParaRPr lang="en-US" sz="2800" dirty="0"/>
          </a:p>
        </p:txBody>
      </p:sp>
      <p:pic>
        <p:nvPicPr>
          <p:cNvPr id="3" name="figure" descr="Phase 2 India-focused forecasting work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2410"/>
            <a:ext cx="8229600" cy="45761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Phase 2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India hourly system: </a:t>
            </a:r>
            <a:r>
              <a:rPr lang="en-US" sz="1700" dirty="0">
                <a:solidFill>
                  <a:schemeClr val="tx1"/>
                </a:solidFill>
              </a:rPr>
              <a:t>shared GNN backbone over IMDAA (~12 km, hourly) with ERA5 boundary context; region-specific experts gated by Phase 1-validated causal drivers.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Lead-matched causal drivers: </a:t>
            </a:r>
            <a:r>
              <a:rPr lang="en-US" sz="1700" dirty="0">
                <a:solidFill>
                  <a:schemeClr val="tx1"/>
                </a:solidFill>
              </a:rPr>
              <a:t>PCMCI tested only at lags ≥ forecast lead, with decoy, speed and persistence checks.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72-hour forecasts: </a:t>
            </a:r>
            <a:r>
              <a:rPr lang="en-US" sz="1700" dirty="0">
                <a:solidFill>
                  <a:schemeClr val="tx1"/>
                </a:solidFill>
              </a:rPr>
              <a:t>autoregressive roll-out of 2 m temperature, humidity, 10 m wind and MSLP, validated against ISD station observations.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Selective adaptation: </a:t>
            </a:r>
            <a:r>
              <a:rPr lang="en-US" sz="1700" dirty="0">
                <a:solidFill>
                  <a:schemeClr val="tx1"/>
                </a:solidFill>
              </a:rPr>
              <a:t>per-region drift detection; retrain, spawn or reactivate only the affected expert.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Benchmark: </a:t>
            </a:r>
            <a:r>
              <a:rPr lang="en-US" sz="1700" dirty="0">
                <a:solidFill>
                  <a:schemeClr val="tx1"/>
                </a:solidFill>
              </a:rPr>
              <a:t>GraphCast and WeatherNext on the same data, horizons and protocol.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Global scaling: </a:t>
            </a:r>
            <a:r>
              <a:rPr lang="en-US" sz="1700" dirty="0">
                <a:solidFill>
                  <a:schemeClr val="tx1"/>
                </a:solidFill>
              </a:rPr>
              <a:t>larger meshes, more regimes and long-range teleconnections once India is competitive.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14 | 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[1] Y.-X. Wu et al., "Discovering invariant rationales for graph neural networks," Proc. ICLR, 2022.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[2] A. Ghaffari, S. Sheikhi and E. Gilman, "Graph-conditioned mixture of graph neural network experts for traffic forecasting," arXiv:2605.30486, 2026.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[3] H. Cao et al., "Geometric mixture-of-experts with curvature-guided adaptive routing for graph representation learning," arXiv:2603.22317, 2026.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[4] S. Wu et al., "GraphMETRO: Mitigating complex graph distribution shifts via mixture of aligned experts," NeurIPS 37, pp. 9358–9387, 2024.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[5] L. Kong et al., "Dynamic mixture-of-experts for incremental graph learning," arXiv:2508.09974, 2025.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[6] H. Li et al., "Out-of-distribution generalization on graphs: A survey," arXiv:2202.07987, 2022.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[7] R. Lam et al., "Learning skillful medium-range global weather forecasting," Science 382, pp. 1416–1421, 2023.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[8] J. Runge et al., "Detecting and quantifying causal associations in large nonlinear time series datasets," Science Advances 5, eaau4996, 2019.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[9] J.-Y. Lee et al., "Real-time multivariate indices for the boreal summer intraseasonal oscillation," Climate Dynamics 40, pp. 493–509, 2013.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[10] S. N. Rodionov, "A sequential algorithm for testing climate regime shifts," GRL 31, L09204, 2004.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[11] A. Bifet and R. Gavaldà, "Learning from time-changing data with adaptive windowing," SIAM SDM, 2007.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l Review">
  <a:themeElements>
    <a:clrScheme name="Final Review">
      <a:dk1>
        <a:srgbClr val="000000"/>
      </a:dk1>
      <a:lt1>
        <a:srgbClr val="FFFFFF"/>
      </a:lt1>
      <a:dk2>
        <a:srgbClr val="1F2937"/>
      </a:dk2>
      <a:lt2>
        <a:srgbClr val="F2F2F2"/>
      </a:lt2>
      <a:accent1>
        <a:srgbClr val="2B6CB0"/>
      </a:accent1>
      <a:accent2>
        <a:srgbClr val="C05621"/>
      </a:accent2>
      <a:accent3>
        <a:srgbClr val="2F855A"/>
      </a:accent3>
      <a:accent4>
        <a:srgbClr val="6B46C1"/>
      </a:accent4>
      <a:accent5>
        <a:srgbClr val="C53030"/>
      </a:accent5>
      <a:accent6>
        <a:srgbClr val="1C8C8C"/>
      </a:accent6>
      <a:hlink>
        <a:srgbClr val="2B6CB0"/>
      </a:hlink>
      <a:folHlink>
        <a:srgbClr val="6B46C1"/>
      </a:folHlink>
    </a:clrScheme>
    <a:fontScheme name="Final Revie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Review - B.Tech Project (updated)</dc:title>
  <dc:subject>PptxGenJS Presentation</dc:subject>
  <dc:creator>PptxGenJS</dc:creator>
  <cp:lastModifiedBy>PptxGenJS</cp:lastModifiedBy>
  <cp:revision>1</cp:revision>
  <dcterms:created xsi:type="dcterms:W3CDTF">2026-10-28T00:30:33Z</dcterms:created>
  <dcterms:modified xsi:type="dcterms:W3CDTF">2026-10-28T00:30:33Z</dcterms:modified>
</cp:coreProperties>
</file>